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92" y="-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Chunking</c:v>
                </c:pt>
                <c:pt idx="2">
                  <c:v>2K
Pool</c:v>
                </c:pt>
                <c:pt idx="3">
                  <c:v>Stage 2</c:v>
                </c:pt>
                <c:pt idx="4">
                  <c:v>Final
Fusion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0.40799999999999997</c:v>
                </c:pt>
                <c:pt idx="2">
                  <c:v>0.42599999999999999</c:v>
                </c:pt>
                <c:pt idx="3">
                  <c:v>0.434</c:v>
                </c:pt>
                <c:pt idx="4">
                  <c:v>0.44840000000000002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2C-4BC1-94CD-0D8C2132C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46"/>
          <c:min val="0.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118791784"/>
        <c:crosses val="autoZero"/>
        <c:crossBetween val="between"/>
        <c:majorUnit val="0.0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80467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4200" b="1">
                <a:solidFill>
                  <a:srgbClr val="F5F8FF"/>
                </a:solidFill>
                <a:latin typeface="Aptos"/>
              </a:defRPr>
            </a:pPr>
            <a:r>
              <a:t>Hybrid 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6583680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0">
                <a:solidFill>
                  <a:srgbClr val="B1C1DA"/>
                </a:solidFill>
                <a:latin typeface="Aptos"/>
              </a:defRPr>
            </a:pPr>
            <a:r>
              <a:rPr dirty="0"/>
              <a:t>Wikipedia Retrieval Pipeline </a:t>
            </a:r>
            <a:r>
              <a:rPr lang="he-IL" dirty="0"/>
              <a:t>-</a:t>
            </a:r>
            <a:r>
              <a:rPr dirty="0"/>
              <a:t> Section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914400"/>
            <a:ext cx="3017520" cy="150876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94392" y="1078992"/>
            <a:ext cx="268833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Final mean NDCG@10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816" y="1353312"/>
            <a:ext cx="27614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2CD6C8"/>
                </a:solidFill>
                <a:latin typeface="Aptos"/>
              </a:defRPr>
            </a:pPr>
            <a:r>
              <a:t>0.4484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1920240"/>
            <a:ext cx="268833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29 public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788920"/>
            <a:ext cx="3977639" cy="141732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" y="2788920"/>
            <a:ext cx="73152" cy="141732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3" y="295351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337560"/>
            <a:ext cx="3566159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Given a natural-language query, return the 10 most relevant Wikipedia page IDs.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788920"/>
            <a:ext cx="3977639" cy="141732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57800" y="2788920"/>
            <a:ext cx="73152" cy="1417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95351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37560"/>
            <a:ext cx="3566159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Approximately 27,000 Wikipedia-style articles; long documents with hidden relevant facts.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788920"/>
            <a:ext cx="3977639" cy="141732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2788920"/>
            <a:ext cx="73152" cy="1417320"/>
          </a:xfrm>
          <a:prstGeom prst="rect">
            <a:avLst/>
          </a:prstGeom>
          <a:solidFill>
            <a:srgbClr val="85F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0" y="295351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337560"/>
            <a:ext cx="3566159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Hybrid retrieval: MiniLM + FAISS for meaning, lexical index for exact matches.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2329" y="475488"/>
            <a:ext cx="3505319" cy="5386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Final Architecture: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The final implementation uses an exact FAISS index, a page-level lexical index, and a modified RRF fusion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2C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Wikipedia</a:t>
            </a:r>
            <a:br/>
            <a:r>
              <a:t>JSON pages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Typed</a:t>
            </a:r>
            <a:br/>
            <a:r>
              <a:t>chunking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5312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A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MiniLM</a:t>
            </a:r>
            <a:br/>
            <a:r>
              <a:t>embeddings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7336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85F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FAISS</a:t>
            </a:r>
            <a:br/>
            <a:r>
              <a:t>IndexFlatIP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9360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rPr dirty="0"/>
              <a:t>Stage 1</a:t>
            </a:r>
            <a:br>
              <a:rPr dirty="0"/>
            </a:br>
            <a:r>
              <a:rPr dirty="0"/>
              <a:t>2,000 chunks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1384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46988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76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rPr dirty="0"/>
              <a:t>Stage 2</a:t>
            </a:r>
            <a:br>
              <a:rPr dirty="0"/>
            </a:br>
            <a:r>
              <a:rPr lang="en-US" dirty="0"/>
              <a:t>rescoring </a:t>
            </a:r>
            <a:r>
              <a:rPr dirty="0"/>
              <a:t>350 pages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134088" y="2276856"/>
            <a:ext cx="219456" cy="0"/>
          </a:xfrm>
          <a:prstGeom prst="line">
            <a:avLst/>
          </a:prstGeom>
          <a:ln w="19050">
            <a:solidFill>
              <a:srgbClr val="586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390120" y="1901952"/>
            <a:ext cx="1645920" cy="749808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2C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rPr lang="en-US" dirty="0"/>
              <a:t>Results</a:t>
            </a:r>
          </a:p>
          <a:p>
            <a:pPr algn="ctr">
              <a:defRPr sz="1450" b="1">
                <a:solidFill>
                  <a:srgbClr val="F5F8FF"/>
                </a:solidFill>
              </a:defRPr>
            </a:pPr>
            <a:r>
              <a:rPr lang="en-US" dirty="0"/>
              <a:t>Top 10 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2035294" y="3794760"/>
            <a:ext cx="3977639" cy="150876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35294" y="3794760"/>
            <a:ext cx="73152" cy="150876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63894" y="395935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Artifacts used at query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894" y="4343400"/>
            <a:ext cx="3566159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corpus.index</a:t>
            </a:r>
            <a:br/>
            <a:r>
              <a:t>index_meta.json</a:t>
            </a:r>
            <a:br/>
            <a:r>
              <a:t>bm25_index.json.gz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50450" y="3794760"/>
            <a:ext cx="3977639" cy="150876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50450" y="3794760"/>
            <a:ext cx="73152" cy="1508760"/>
          </a:xfrm>
          <a:prstGeom prst="rect">
            <a:avLst/>
          </a:prstGeom>
          <a:solidFill>
            <a:srgbClr val="85F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9050" y="395935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Returned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9050" y="4343400"/>
            <a:ext cx="3566159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Top-10 page IDs per query, evaluated with mean NDCG@10.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161288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t>Baseline: Simple but Information-Losing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The first version represented each page mainly by its title and early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743200" cy="137160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41401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Baseline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2487168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FFC457"/>
                </a:solidFill>
                <a:latin typeface="Aptos"/>
              </a:defRPr>
            </a:pPr>
            <a:r>
              <a:t>0.320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34640"/>
            <a:ext cx="241401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mean NDCG@10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691640"/>
            <a:ext cx="4572000" cy="18288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86200" y="1691640"/>
            <a:ext cx="73152" cy="1828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856232"/>
            <a:ext cx="41605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Original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40280"/>
            <a:ext cx="416052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One chunk per page: title + approximately the first 200 words. This was fast, but it ignored facts appearing later in the article.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691640"/>
            <a:ext cx="4572000" cy="18288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15400" y="1691640"/>
            <a:ext cx="73152" cy="1828800"/>
          </a:xfrm>
          <a:prstGeom prst="rect">
            <a:avLst/>
          </a:prstGeom>
          <a:solidFill>
            <a:srgbClr val="FF7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856232"/>
            <a:ext cx="41605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Main 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40280"/>
            <a:ext cx="416052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A query about a specific date, event, person, or relation could be answered in the middle of the article, but that passage was never embedded.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Baseline page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12527280" cy="676656"/>
          </a:xfrm>
          <a:prstGeom prst="roundRect">
            <a:avLst/>
          </a:prstGeom>
          <a:solidFill>
            <a:srgbClr val="273756"/>
          </a:solidFill>
          <a:ln>
            <a:solidFill>
              <a:srgbClr val="4B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" y="5084064"/>
            <a:ext cx="2057400" cy="566928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230368"/>
            <a:ext cx="20574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1">
                <a:solidFill>
                  <a:srgbClr val="F5F8FF"/>
                </a:solidFill>
                <a:latin typeface="Aptos"/>
              </a:defRPr>
            </a:pPr>
            <a:r>
              <a:t>indexed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5084064"/>
            <a:ext cx="4297680" cy="566928"/>
          </a:xfrm>
          <a:prstGeom prst="rect">
            <a:avLst/>
          </a:prstGeom>
          <a:solidFill>
            <a:srgbClr val="5F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5230368"/>
            <a:ext cx="42976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not represented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084064"/>
            <a:ext cx="6035040" cy="566928"/>
          </a:xfrm>
          <a:prstGeom prst="rect">
            <a:avLst/>
          </a:prstGeom>
          <a:solidFill>
            <a:srgbClr val="5F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5230368"/>
            <a:ext cx="60350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not represented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6370911" cy="5386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Improvement #1: Multi-Chunking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27632"/>
            <a:ext cx="2560320" cy="132588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92224"/>
            <a:ext cx="223113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66543"/>
            <a:ext cx="230428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2CD6C8"/>
                </a:solidFill>
                <a:latin typeface="Aptos"/>
              </a:defRPr>
            </a:pPr>
            <a:r>
              <a:t>+0.088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223113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0.320 → 0.408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417320"/>
            <a:ext cx="3200400" cy="11430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0" y="1417320"/>
            <a:ext cx="73152" cy="114300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581912"/>
            <a:ext cx="27889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Title chunk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65960"/>
            <a:ext cx="2788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The page title alone catches direct entity-name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417320"/>
            <a:ext cx="3200400" cy="11430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23760" y="1417320"/>
            <a:ext cx="73152" cy="1143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81912"/>
            <a:ext cx="27889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Lead 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965960"/>
            <a:ext cx="2788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Title + first paragraph: usually the densest summary of the topic.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1417320"/>
            <a:ext cx="3200400" cy="11430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789920" y="1417320"/>
            <a:ext cx="73152" cy="1143000"/>
          </a:xfrm>
          <a:prstGeom prst="rect">
            <a:avLst/>
          </a:prstGeom>
          <a:solidFill>
            <a:srgbClr val="85F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8520" y="1581912"/>
            <a:ext cx="27889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Body chunks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1965960"/>
            <a:ext cx="2788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Sections or sentence windows, each prefixed with the title.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39"/>
            <a:ext cx="28346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Title prefix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60520"/>
            <a:ext cx="6035040" cy="105156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FF7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4325112"/>
            <a:ext cx="56235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Without prefix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09159"/>
            <a:ext cx="5623559" cy="41147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He won the championship in 1988.  →  unclear 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160520"/>
            <a:ext cx="6035040" cy="105156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4160520"/>
            <a:ext cx="73152" cy="1051560"/>
          </a:xfrm>
          <a:prstGeom prst="rect">
            <a:avLst/>
          </a:prstGeom>
          <a:solidFill>
            <a:srgbClr val="76E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5240" y="4325112"/>
            <a:ext cx="56235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With prefix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709159"/>
            <a:ext cx="5623559" cy="41147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Magic Johnson - Career. He won the championship in 1988.  →  clear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897880"/>
            <a:ext cx="12527280" cy="8686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5897880"/>
            <a:ext cx="73152" cy="86868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062472"/>
            <a:ext cx="1211580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Implementation caveat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6446520"/>
            <a:ext cx="1211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Each page is capped at six chunks. Short pages may be fully covered, but long pages are represented mainly by the title, lead, and earlier sections.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161288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t>Indexing: Two Complementary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Dense retrieval handles meaning; lexical retrieval handles exact surface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6172200" cy="36118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45920"/>
            <a:ext cx="73152" cy="361188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10512"/>
            <a:ext cx="57607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Dense index — FAISS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5760720" cy="2971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• MiniLM embeddings, 384 dimensions</a:t>
            </a:r>
            <a:br/>
            <a:r>
              <a:t>• L2 normalized vectors</a:t>
            </a:r>
            <a:br/>
            <a:r>
              <a:t>• faiss.IndexFlatIP exact inner product search</a:t>
            </a:r>
            <a:br/>
            <a:r>
              <a:t>• No IVF/HNSW approximation in final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45920"/>
            <a:ext cx="6172200" cy="36118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1645920"/>
            <a:ext cx="73152" cy="3611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810512"/>
            <a:ext cx="57607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Lexical index — BM25-style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94560"/>
            <a:ext cx="5760720" cy="2971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• Page-level lexical document</a:t>
            </a:r>
            <a:br/>
            <a:r>
              <a:t>• Doubled title for entity-name boost</a:t>
            </a:r>
            <a:br/>
            <a:r>
              <a:t>• First 1,200 article words, not the full page</a:t>
            </a:r>
            <a:br/>
            <a:r>
              <a:t>• Unigrams + bigrams + trigrams</a:t>
            </a:r>
            <a:br/>
            <a:r>
              <a:t>• Prune df≤1 and df&gt;3000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80760"/>
            <a:ext cx="125272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  <a:latin typeface="Aptos"/>
              </a:defRPr>
            </a:pPr>
            <a:r>
              <a:t>The two indexes are intentionally different: one captures semantic closeness, the other captures exact names, years, numbers, and phrases.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516762" cy="5386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Stage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rPr dirty="0"/>
              <a:t>FAISS retrieves chunks, then we aggregate them into page-level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920240" cy="77724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2C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rPr lang="en-US" dirty="0"/>
              <a:t>Embed the q</a:t>
            </a:r>
            <a:r>
              <a:rPr dirty="0"/>
              <a:t>uery</a:t>
            </a:r>
            <a:br>
              <a:rPr dirty="0"/>
            </a:b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2852928" y="2313432"/>
            <a:ext cx="850392" cy="0"/>
          </a:xfrm>
          <a:prstGeom prst="line">
            <a:avLst/>
          </a:prstGeom>
          <a:ln w="19050">
            <a:solidFill>
              <a:srgbClr val="B1C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1920240"/>
            <a:ext cx="2103120" cy="77724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FAISS top</a:t>
            </a:r>
            <a:br/>
            <a:r>
              <a:t>2,000 chunks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33872" y="2313432"/>
            <a:ext cx="822960" cy="0"/>
          </a:xfrm>
          <a:prstGeom prst="line">
            <a:avLst/>
          </a:prstGeom>
          <a:ln w="19050">
            <a:solidFill>
              <a:srgbClr val="B1C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56832" y="1920240"/>
            <a:ext cx="1920240" cy="77724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A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Group by</a:t>
            </a:r>
            <a:br/>
            <a:r>
              <a:t>page_id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13648" y="2313432"/>
            <a:ext cx="822960" cy="0"/>
          </a:xfrm>
          <a:prstGeom prst="line">
            <a:avLst/>
          </a:prstGeom>
          <a:ln w="19050">
            <a:solidFill>
              <a:srgbClr val="B1C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36608" y="1920240"/>
            <a:ext cx="2240280" cy="77724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Top-3 mean</a:t>
            </a:r>
            <a:br/>
            <a:r>
              <a:t>+ kind bonus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704320" y="2313432"/>
            <a:ext cx="713232" cy="0"/>
          </a:xfrm>
          <a:prstGeom prst="line">
            <a:avLst/>
          </a:prstGeom>
          <a:ln w="19050">
            <a:solidFill>
              <a:srgbClr val="B1C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417552" y="1920240"/>
            <a:ext cx="1645920" cy="77724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76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450" b="1">
                <a:solidFill>
                  <a:srgbClr val="F5F8FF"/>
                </a:solidFill>
              </a:defRPr>
            </a:pPr>
            <a:r>
              <a:t>Top 350</a:t>
            </a:r>
            <a:br/>
            <a:r>
              <a:t>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3794760" cy="13258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73152" cy="132588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338328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Why 2,000 chunks?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89120"/>
            <a:ext cx="33832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The original pool was 100 chunks. With multiple chunks per page, that was too small and could miss relevant pages.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840480"/>
            <a:ext cx="3794760" cy="13258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0" y="3840480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4005072"/>
            <a:ext cx="338328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Why top-3 mean?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389120"/>
            <a:ext cx="33832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More stable than max pooling: one noisy chunk is less likely to dominate the page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840480"/>
            <a:ext cx="3794760" cy="13258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0" y="3840480"/>
            <a:ext cx="73152" cy="132588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4005072"/>
            <a:ext cx="338328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Kind bonus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4389120"/>
            <a:ext cx="33832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Title +0.060, lead +0.035. This only affects Stage 1 candidate selection.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5852159"/>
            <a:ext cx="4434840" cy="1325879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85231" y="6016752"/>
            <a:ext cx="4105655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Candidate-pool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6291072"/>
            <a:ext cx="417880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85FFCA"/>
                </a:solidFill>
                <a:latin typeface="Aptos"/>
              </a:defRPr>
            </a:pPr>
            <a:r>
              <a:t>+0.018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1" y="6858000"/>
            <a:ext cx="4105655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0.408 → 0.426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41783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lang="en-US" dirty="0"/>
              <a:t>What each stage receives: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Rescoring uses all indexed chunks of the top 350 pages — not only the chunks FAISS returned in the top 2,000.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4114800" cy="18288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1828800"/>
          </a:xfrm>
          <a:prstGeom prst="rect">
            <a:avLst/>
          </a:prstGeom>
          <a:solidFill>
            <a:srgbClr val="FF7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73351"/>
            <a:ext cx="37033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What Stage 1 sees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3703320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rPr dirty="0"/>
              <a:t>top-2,000 FAISS results</a:t>
            </a:r>
            <a:r>
              <a:rPr lang="en-US" dirty="0"/>
              <a:t> (chunks)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6620" y="1495102"/>
            <a:ext cx="4114800" cy="18288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6620" y="1495102"/>
            <a:ext cx="73152" cy="1828800"/>
          </a:xfrm>
          <a:prstGeom prst="rect">
            <a:avLst/>
          </a:prstGeom>
          <a:solidFill>
            <a:srgbClr val="76E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5220" y="1659693"/>
            <a:ext cx="370332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What Stage 2 sees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071174"/>
            <a:ext cx="3703320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rPr lang="en-US" dirty="0"/>
              <a:t>Top 350 pages and its chunks.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914400" y="4663440"/>
            <a:ext cx="12618720" cy="114300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73152" cy="114300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828031"/>
            <a:ext cx="12207240" cy="9171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  <a:latin typeface="Aptos"/>
              </a:defRPr>
            </a:pPr>
            <a:r>
              <a:rPr lang="en-US" sz="2800" dirty="0"/>
              <a:t>Adding stage  2  gave every page a “fair chance” in ranking using all of its chunks</a:t>
            </a:r>
            <a:endParaRPr sz="2800" dirty="0"/>
          </a:p>
        </p:txBody>
      </p:sp>
      <p:sp>
        <p:nvSpPr>
          <p:cNvPr id="24" name="Rounded Rectangle 23"/>
          <p:cNvSpPr/>
          <p:nvPr/>
        </p:nvSpPr>
        <p:spPr>
          <a:xfrm>
            <a:off x="5120640" y="6217920"/>
            <a:ext cx="4434840" cy="1261872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1" y="6382512"/>
            <a:ext cx="4105655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Stage 2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6656831"/>
            <a:ext cx="4178807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85FFCA"/>
                </a:solidFill>
                <a:latin typeface="Aptos"/>
              </a:defRPr>
            </a:pPr>
            <a:r>
              <a:t>+0.008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1" y="7223760"/>
            <a:ext cx="4105655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0.426 → 0.434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3395610" cy="5386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Fusion</a:t>
            </a:r>
            <a:r>
              <a:rPr lang="en-US" dirty="0"/>
              <a:t> 	Weighting: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We combine the dense and lexical rankings into one final ranked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977639" cy="20116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63040"/>
            <a:ext cx="73152" cy="201168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Dense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3566159" cy="9171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rPr dirty="0" err="1"/>
              <a:t>MiniLM</a:t>
            </a:r>
            <a:r>
              <a:rPr dirty="0"/>
              <a:t> + FAISS provides a page ranking based on semantic similarity.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3977639" cy="20116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0" y="1463040"/>
            <a:ext cx="73152" cy="2011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162763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Lexical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011680"/>
            <a:ext cx="3566159" cy="113261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rPr dirty="0"/>
              <a:t>The BM25-style score helps exact terms. We use both lexical rank and normalized lexical strength.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738360" y="1463040"/>
            <a:ext cx="3977639" cy="201168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38360" y="1463040"/>
            <a:ext cx="73152" cy="201168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627632"/>
            <a:ext cx="356615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Why not raw score sum?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011680"/>
            <a:ext cx="3566159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>
                <a:solidFill>
                  <a:srgbClr val="B1C1DA"/>
                </a:solidFill>
                <a:latin typeface="Aptos"/>
              </a:defRPr>
            </a:pPr>
            <a:r>
              <a:t>FAISS and lexical scores use different scales. Rank fusion is more stable than directly adding raw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" y="4343399"/>
            <a:ext cx="5281363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Final tuned base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00599"/>
            <a:ext cx="3696954" cy="1704079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1" y="4965191"/>
            <a:ext cx="3221631" cy="24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WF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239511"/>
            <a:ext cx="3327257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2CD6C8"/>
                </a:solidFill>
                <a:latin typeface="Aptos"/>
              </a:defRPr>
            </a:pPr>
            <a:r>
              <a:t>1.2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5806439"/>
            <a:ext cx="3221631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dense base weight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800599"/>
            <a:ext cx="3696954" cy="1716517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50790" y="4965191"/>
            <a:ext cx="3221631" cy="24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WB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5" y="5239511"/>
            <a:ext cx="3327257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0" y="5806439"/>
            <a:ext cx="3221631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lexical base weight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800600"/>
            <a:ext cx="3696954" cy="169164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31151" y="4965191"/>
            <a:ext cx="3221631" cy="24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RRF_k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5239511"/>
            <a:ext cx="3327257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A67CFF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1" y="5806439"/>
            <a:ext cx="3221631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smooth ranks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5419945" cy="5386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rPr lang="he-IL" dirty="0"/>
              <a:t> </a:t>
            </a:r>
            <a:r>
              <a:rPr dirty="0"/>
              <a:t>Dynamic Weights per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7575151" cy="238527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rPr lang="he-IL" dirty="0"/>
              <a:t> </a:t>
            </a:r>
            <a:r>
              <a:rPr dirty="0"/>
              <a:t>estimates query specificity and changes how much to trust dense vs lexical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2743200" cy="201168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2C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3" y="1783080"/>
            <a:ext cx="245059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176272"/>
            <a:ext cx="2450592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2CD6C8"/>
                </a:solidFill>
                <a:latin typeface="Aptos"/>
              </a:defRPr>
            </a:pPr>
            <a:r>
              <a:rPr dirty="0"/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16352"/>
            <a:ext cx="234086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Rare words indicate exact lexical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2743200" cy="201168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783080"/>
            <a:ext cx="245059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176272"/>
            <a:ext cx="2450592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58A6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816352"/>
            <a:ext cx="234086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How many query tokens exist in the lexical index.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2743200" cy="201168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A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64424" y="1783080"/>
            <a:ext cx="245059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2176272"/>
            <a:ext cx="2450592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A67C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816352"/>
            <a:ext cx="234086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Longer queries usually contain more constraints.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92840" y="1600200"/>
            <a:ext cx="2743200" cy="2011680"/>
          </a:xfrm>
          <a:prstGeom prst="roundRect">
            <a:avLst/>
          </a:prstGeom>
          <a:solidFill>
            <a:srgbClr val="1C325C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9144" y="1783080"/>
            <a:ext cx="245059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9144" y="2176272"/>
            <a:ext cx="2450592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FFC457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94008" y="2816352"/>
            <a:ext cx="234086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Years and large numbers are often specific clues.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434840"/>
            <a:ext cx="5669280" cy="141732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1560" y="4434840"/>
            <a:ext cx="73152" cy="1417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599431"/>
            <a:ext cx="525780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High specificity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83479"/>
            <a:ext cx="525780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Rare terms, strong lexical coverage, or numbers → increase BM25 weight and reduce dense weight.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4434840"/>
            <a:ext cx="5669280" cy="1417320"/>
          </a:xfrm>
          <a:prstGeom prst="roundRect">
            <a:avLst/>
          </a:prstGeom>
          <a:solidFill>
            <a:srgbClr val="182A4C"/>
          </a:solidFill>
          <a:ln w="12700">
            <a:solidFill>
              <a:srgbClr val="38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9560" y="4434840"/>
            <a:ext cx="73152" cy="1417320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4599431"/>
            <a:ext cx="525780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Low specificity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983479"/>
            <a:ext cx="525780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B1C1DA"/>
                </a:solidFill>
                <a:latin typeface="Aptos"/>
              </a:defRPr>
            </a:pPr>
            <a:r>
              <a:t>Broad semantic phrasing → increase MiniLM/FAISS weight and reduce lexical weight.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2C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70080" y="-731520"/>
            <a:ext cx="3474720" cy="3474720"/>
          </a:xfrm>
          <a:prstGeom prst="ellipse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6492240"/>
            <a:ext cx="2926080" cy="2926080"/>
          </a:xfrm>
          <a:prstGeom prst="ellipse">
            <a:avLst/>
          </a:prstGeom>
          <a:solidFill>
            <a:srgbClr val="13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161288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 Display"/>
              </a:defRPr>
            </a:pPr>
            <a:r>
              <a:t>Results: Development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18872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1550">
                <a:solidFill>
                  <a:srgbClr val="B1C1DA"/>
                </a:solidFill>
                <a:latin typeface="Aptos"/>
              </a:defRPr>
            </a:pPr>
            <a:r>
              <a:t>Only the improvements retained in the final system are shown.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2020"/>
              </p:ext>
            </p:extLst>
          </p:nvPr>
        </p:nvGraphicFramePr>
        <p:xfrm>
          <a:off x="868680" y="1508760"/>
          <a:ext cx="84124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829800" y="1600200"/>
            <a:ext cx="3566160" cy="114300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94392" y="1764792"/>
            <a:ext cx="323697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Final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2039112"/>
            <a:ext cx="3310128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2CD6C8"/>
                </a:solidFill>
                <a:latin typeface="Aptos"/>
              </a:defRPr>
            </a:pPr>
            <a:r>
              <a:t>0.4484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2606040"/>
            <a:ext cx="323697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mean NDCG@10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971800"/>
            <a:ext cx="3566160" cy="1143000"/>
          </a:xfrm>
          <a:prstGeom prst="roundRect">
            <a:avLst/>
          </a:prstGeom>
          <a:solidFill>
            <a:srgbClr val="1C325C"/>
          </a:solidFill>
          <a:ln w="12700">
            <a:solidFill>
              <a:srgbClr val="485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94392" y="3136392"/>
            <a:ext cx="323697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50" b="0">
                <a:solidFill>
                  <a:srgbClr val="B1C1DA"/>
                </a:solidFill>
                <a:latin typeface="Aptos"/>
              </a:defRPr>
            </a:pPr>
            <a:r>
              <a:t>Total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3410712"/>
            <a:ext cx="3310128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800" b="1">
                <a:solidFill>
                  <a:srgbClr val="76E697"/>
                </a:solidFill>
                <a:latin typeface="Aptos"/>
              </a:defRPr>
            </a:pPr>
            <a:r>
              <a:t>+0.1284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4392" y="3977639"/>
            <a:ext cx="3236976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50" b="0">
                <a:solidFill>
                  <a:srgbClr val="B1C1DA"/>
                </a:solidFill>
                <a:latin typeface="Aptos"/>
              </a:defRPr>
            </a:pPr>
            <a:r>
              <a:t>about 40% relative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7818120"/>
            <a:ext cx="13167360" cy="9144"/>
          </a:xfrm>
          <a:prstGeom prst="rect">
            <a:avLst/>
          </a:prstGeom>
          <a:solidFill>
            <a:srgbClr val="2C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395960" y="769924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1C1DA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910</Words>
  <Application>Microsoft Office PowerPoint</Application>
  <PresentationFormat>מותאם אישית</PresentationFormat>
  <Paragraphs>142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רונית  נס אביב</cp:lastModifiedBy>
  <cp:revision>6</cp:revision>
  <dcterms:created xsi:type="dcterms:W3CDTF">2013-01-27T09:14:16Z</dcterms:created>
  <dcterms:modified xsi:type="dcterms:W3CDTF">2026-06-18T17:59:56Z</dcterms:modified>
  <cp:category/>
</cp:coreProperties>
</file>